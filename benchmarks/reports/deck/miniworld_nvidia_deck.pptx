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trimul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transition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lnl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1500000"/>
            <a:ext cx="10820400" cy="32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H100 · bf16 · PRE-MEETING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Kernel optimization with NVIDIA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3200" b="1" dirty="0">
                <a:solidFill>
                  <a:srgbClr val="76B900"/>
                </a:solidFill>
                <a:latin typeface="+mn-lt"/>
              </a:rPr>
              <a:t>three working tracks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1500" dirty="0">
                <a:solidFill>
                  <a:srgbClr val="9AA6BE"/>
                </a:solidFill>
                <a:latin typeface="+mn-lt"/>
              </a:rPr>
              <a:t>Today's pre-meeting fixes the agenda for the 7/2 offline session. Each track is backed by kernels already built and benchmarked.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오늘 사전 미팅에서 7/2 오프라인 세션의 의제를 정합니다. 각 트랙은 이미 만들고 벤치한 커널이 뒷받침합니다.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700" b="1" dirty="0">
                <a:solidFill>
                  <a:srgbClr val="E8412B"/>
                </a:solidFill>
                <a:latin typeface="+mn-lt"/>
              </a:rPr>
              <a:t>We build v1  →  </a:t>
            </a:r>
            <a:r>
              <a:rPr lang="en-US" sz="1700" b="1" dirty="0">
                <a:solidFill>
                  <a:srgbClr val="76B900"/>
                </a:solidFill>
                <a:latin typeface="+mn-lt"/>
              </a:rPr>
              <a:t>NVIDIA optimizes v2</a:t>
            </a:r>
            <a:r>
              <a:rPr lang="en-US" sz="1300" dirty="0">
                <a:solidFill>
                  <a:srgbClr val="9AA6BE"/>
                </a:solidFill>
                <a:latin typeface="+mn-lt"/>
              </a:rPr>
              <a:t>    ·    1차 개발은 우리가 → 2차 최적화는 NVIDIA가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700000"/>
            <a:ext cx="10820400" cy="58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THE AGENDA · 의제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What we want to agree on today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500" dirty="0">
                <a:solidFill>
                  <a:srgbClr val="9AA6BE"/>
                </a:solidFill>
                <a:latin typeface="+mn-lt"/>
              </a:rPr>
              <a:t>오늘 합의하려는 것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600" b="1" dirty="0">
                <a:solidFill>
                  <a:srgbClr val="E8412B"/>
                </a:solidFill>
                <a:latin typeface="+mn-lt"/>
              </a:rPr>
              <a:t>TRACK 01  </a:t>
            </a:r>
            <a:r>
              <a:rPr lang="en-US" sz="1600" dirty="0">
                <a:solidFill>
                  <a:srgbClr val="FFFFFF"/>
                </a:solidFill>
                <a:latin typeface="+mn-lt"/>
              </a:rPr>
              <a:t>Co-optimize the kernels — we build v1, NVIDIA optimizes v2 (fwd / bwd / inference, op by op)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커널 공동 최적화 — 우리가 1차, NVIDIA가 2차 (forward / backward / inference, op 단위)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600" b="1" dirty="0">
                <a:solidFill>
                  <a:srgbClr val="E8412B"/>
                </a:solidFill>
                <a:latin typeface="+mn-lt"/>
              </a:rPr>
              <a:t>TRACK 02  </a:t>
            </a:r>
            <a:r>
              <a:rPr lang="en-US" sz="1600" dirty="0">
                <a:solidFill>
                  <a:srgbClr val="FFFFFF"/>
                </a:solidFill>
                <a:latin typeface="+mn-lt"/>
              </a:rPr>
              <a:t>AF3-like model inference — large inference on a single ordinary GPU (chunking, CPU offload, fused kernels)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AF3-like 모델 인퍼런스 — 일반 GPU 한 장에서 대규모 인퍼런스 (chunking, CPU offload, 융합 커널)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600" b="1" dirty="0">
                <a:solidFill>
                  <a:srgbClr val="E8412B"/>
                </a:solidFill>
                <a:latin typeface="+mn-lt"/>
              </a:rPr>
              <a:t>TRACK 03  </a:t>
            </a:r>
            <a:r>
              <a:rPr lang="en-US" sz="1600" dirty="0">
                <a:solidFill>
                  <a:srgbClr val="FFFFFF"/>
                </a:solidFill>
                <a:latin typeface="+mn-lt"/>
              </a:rPr>
              <a:t>Education &amp; ramp-up — from AI-assisted to expert CuTeDSL (material, pairing, learn from each re-optimization)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교육 &amp; 역량 강화 — AI 보조에서 CuTeDSL 전문 수준으로 (자료·페어링·재최적화 학습)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700000"/>
            <a:ext cx="10820400" cy="58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01 · CO-OPTIMIZE THE KERNELS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Four kernels — vs the same default &amp; vs NVIDIA's own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All forward, H100, bf16. Baseline = torch.compile'd PyTorch. · 전부 forward, 기준선 = torch.compile PyTorch.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600" b="1" dirty="0">
                <a:solidFill>
                  <a:srgbClr val="FFFFFF"/>
                </a:solidFill>
                <a:latin typeface="+mn-lt"/>
              </a:rPr>
              <a:t>Triangle Multiplication   </a:t>
            </a:r>
            <a:r>
              <a:rPr lang="en-US" sz="1600" b="1" dirty="0">
                <a:solidFill>
                  <a:srgbClr val="E8412B"/>
                </a:solidFill>
                <a:latin typeface="+mn-lt"/>
              </a:rPr>
              <a:t>11.3× vs default</a:t>
            </a:r>
            <a:r>
              <a:rPr lang="en-US" sz="1400" dirty="0">
                <a:solidFill>
                  <a:srgbClr val="9AA6BE"/>
                </a:solidFill>
                <a:latin typeface="+mn-lt"/>
              </a:rPr>
              <a:t>   · beats cuEquivariance &amp; dt-v1 by 1.2–1.4× at every L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600" b="1" dirty="0">
                <a:solidFill>
                  <a:srgbClr val="FFFFFF"/>
                </a:solidFill>
                <a:latin typeface="+mn-lt"/>
              </a:rPr>
              <a:t>Transition (SwiGLU)        </a:t>
            </a:r>
            <a:r>
              <a:rPr lang="en-US" sz="1600" b="1" dirty="0">
                <a:solidFill>
                  <a:srgbClr val="E8412B"/>
                </a:solidFill>
                <a:latin typeface="+mn-lt"/>
              </a:rPr>
              <a:t>5.5× vs default</a:t>
            </a:r>
            <a:r>
              <a:rPr lang="en-US" sz="1400" dirty="0">
                <a:solidFill>
                  <a:srgbClr val="9AA6BE"/>
                </a:solidFill>
                <a:latin typeface="+mn-lt"/>
              </a:rPr>
              <a:t>   · one fused kernel, h never touches HBM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600" b="1" dirty="0">
                <a:solidFill>
                  <a:srgbClr val="FFFFFF"/>
                </a:solidFill>
                <a:latin typeface="+mn-lt"/>
              </a:rPr>
              <a:t>LayerNorm + Linear         </a:t>
            </a:r>
            <a:r>
              <a:rPr lang="en-US" sz="1600" b="1" dirty="0">
                <a:solidFill>
                  <a:srgbClr val="E8412B"/>
                </a:solidFill>
                <a:latin typeface="+mn-lt"/>
              </a:rPr>
              <a:t>3.1× vs default</a:t>
            </a:r>
            <a:r>
              <a:rPr lang="en-US" sz="1400" dirty="0">
                <a:solidFill>
                  <a:srgbClr val="9AA6BE"/>
                </a:solidFill>
                <a:latin typeface="+mn-lt"/>
              </a:rPr>
              <a:t>   · beats TransformerEngine at every (M, d)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600" b="1" dirty="0">
                <a:solidFill>
                  <a:srgbClr val="FFFFFF"/>
                </a:solidFill>
                <a:latin typeface="+mn-lt"/>
              </a:rPr>
              <a:t>LayerNorm                  </a:t>
            </a:r>
            <a:r>
              <a:rPr lang="en-US" sz="1600" b="1" dirty="0">
                <a:solidFill>
                  <a:srgbClr val="E8412B"/>
                </a:solidFill>
                <a:latin typeface="+mn-lt"/>
              </a:rPr>
              <a:t>6.0× vs default</a:t>
            </a:r>
            <a:r>
              <a:rPr lang="en-US" sz="1400" dirty="0">
                <a:solidFill>
                  <a:srgbClr val="9AA6BE"/>
                </a:solidFill>
                <a:latin typeface="+mn-lt"/>
              </a:rPr>
              <a:t>   · cuEquivariance gives only ~1.0× at large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520000"/>
            <a:ext cx="1082040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01 · TRIANGLE MULTIPLICATION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Architecture — two fused kernels around one bmm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아키텍처 — bmm을 사이에 둔 두 개의 융합 커널</a:t>
            </a:r>
          </a:p>
        </p:txBody>
      </p:sp>
      <p:sp>
        <p:nvSpPr>
          <p:cNvPr id="3" name="bl"/>
          <p:cNvSpPr>
            <a:spLocks noGrp="1"/>
          </p:cNvSpPr>
          <p:nvPr/>
        </p:nvSpPr>
        <p:spPr>
          <a:xfrm>
            <a:off x="685800" y="2120000"/>
            <a:ext cx="10820400" cy="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en-US" sz="1050" b="1" dirty="0">
                <a:solidFill>
                  <a:srgbClr val="9AA6BE"/>
                </a:solidFill>
                <a:latin typeface="+mn-lt"/>
              </a:rPr>
              <a:t>BASELINE — separate launches · 분리된 다중 launch</a:t>
            </a:r>
          </a:p>
        </p:txBody>
      </p:sp>
      <p:sp>
        <p:nvSpPr>
          <p:cNvPr id="4" name="b4"/>
          <p:cNvSpPr/>
          <p:nvPr/>
        </p:nvSpPr>
        <p:spPr>
          <a:xfrm>
            <a:off x="685800" y="2420000"/>
            <a:ext cx="1210891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LN_in</a:t>
            </a:r>
          </a:p>
        </p:txBody>
      </p:sp>
      <p:sp>
        <p:nvSpPr>
          <p:cNvPr id="5" name="b5"/>
          <p:cNvSpPr/>
          <p:nvPr/>
        </p:nvSpPr>
        <p:spPr>
          <a:xfrm>
            <a:off x="2006691" y="2420000"/>
            <a:ext cx="1210891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left</a:t>
            </a:r>
          </a:p>
        </p:txBody>
      </p:sp>
      <p:sp>
        <p:nvSpPr>
          <p:cNvPr id="6" name="b6"/>
          <p:cNvSpPr/>
          <p:nvPr/>
        </p:nvSpPr>
        <p:spPr>
          <a:xfrm>
            <a:off x="3327582" y="2420000"/>
            <a:ext cx="1210891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right</a:t>
            </a:r>
          </a:p>
        </p:txBody>
      </p:sp>
      <p:sp>
        <p:nvSpPr>
          <p:cNvPr id="7" name="b7"/>
          <p:cNvSpPr/>
          <p:nvPr/>
        </p:nvSpPr>
        <p:spPr>
          <a:xfrm>
            <a:off x="4648473" y="2420000"/>
            <a:ext cx="1210891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gate</a:t>
            </a:r>
          </a:p>
        </p:txBody>
      </p:sp>
      <p:sp>
        <p:nvSpPr>
          <p:cNvPr id="8" name="b8"/>
          <p:cNvSpPr/>
          <p:nvPr/>
        </p:nvSpPr>
        <p:spPr>
          <a:xfrm>
            <a:off x="5969364" y="2420000"/>
            <a:ext cx="1574159" cy="700000"/>
          </a:xfrm>
          <a:prstGeom prst="roundRect">
            <a:avLst>
              <a:gd name="adj" fmla="val 14000"/>
            </a:avLst>
          </a:prstGeom>
          <a:solidFill>
            <a:srgbClr val="E8A23D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transpose</a:t>
            </a:r>
          </a:p>
        </p:txBody>
      </p:sp>
      <p:sp>
        <p:nvSpPr>
          <p:cNvPr id="9" name="b9"/>
          <p:cNvSpPr/>
          <p:nvPr/>
        </p:nvSpPr>
        <p:spPr>
          <a:xfrm>
            <a:off x="7653523" y="2420000"/>
            <a:ext cx="1210891" cy="700000"/>
          </a:xfrm>
          <a:prstGeom prst="roundRect">
            <a:avLst>
              <a:gd name="adj" fmla="val 14000"/>
            </a:avLst>
          </a:prstGeom>
          <a:solidFill>
            <a:srgbClr val="11A6A0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bmm</a:t>
            </a:r>
          </a:p>
        </p:txBody>
      </p:sp>
      <p:sp>
        <p:nvSpPr>
          <p:cNvPr id="10" name="b10"/>
          <p:cNvSpPr/>
          <p:nvPr/>
        </p:nvSpPr>
        <p:spPr>
          <a:xfrm>
            <a:off x="8974414" y="2420000"/>
            <a:ext cx="1210891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LN_out</a:t>
            </a:r>
          </a:p>
        </p:txBody>
      </p:sp>
      <p:sp>
        <p:nvSpPr>
          <p:cNvPr id="11" name="b11"/>
          <p:cNvSpPr/>
          <p:nvPr/>
        </p:nvSpPr>
        <p:spPr>
          <a:xfrm>
            <a:off x="10295305" y="2420000"/>
            <a:ext cx="1210891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out·gate</a:t>
            </a:r>
          </a:p>
        </p:txBody>
      </p:sp>
      <p:sp>
        <p:nvSpPr>
          <p:cNvPr id="12" name="ol"/>
          <p:cNvSpPr>
            <a:spLocks noGrp="1"/>
          </p:cNvSpPr>
          <p:nvPr/>
        </p:nvSpPr>
        <p:spPr>
          <a:xfrm>
            <a:off x="685800" y="3450000"/>
            <a:ext cx="10820400" cy="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en-US" sz="1050" b="1" dirty="0">
                <a:solidFill>
                  <a:srgbClr val="E8412B"/>
                </a:solidFill>
                <a:latin typeface="+mn-lt"/>
              </a:rPr>
              <a:t>OURS — fused · 융합</a:t>
            </a:r>
          </a:p>
        </p:txBody>
      </p:sp>
      <p:sp>
        <p:nvSpPr>
          <p:cNvPr id="13" name="b13"/>
          <p:cNvSpPr/>
          <p:nvPr/>
        </p:nvSpPr>
        <p:spPr>
          <a:xfrm>
            <a:off x="685800" y="3750000"/>
            <a:ext cx="4353735" cy="820000"/>
          </a:xfrm>
          <a:prstGeom prst="roundRect">
            <a:avLst>
              <a:gd name="adj" fmla="val 14000"/>
            </a:avLst>
          </a:prstGeom>
          <a:solidFill>
            <a:srgbClr val="E8412B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+mn-lt"/>
              </a:rPr>
              <a:t>KERNEL 1 · input proj (tm1)</a:t>
            </a:r>
          </a:p>
        </p:txBody>
      </p:sp>
      <p:sp>
        <p:nvSpPr>
          <p:cNvPr id="14" name="b14"/>
          <p:cNvSpPr/>
          <p:nvPr/>
        </p:nvSpPr>
        <p:spPr>
          <a:xfrm>
            <a:off x="5149535" y="3750000"/>
            <a:ext cx="1892928" cy="820000"/>
          </a:xfrm>
          <a:prstGeom prst="roundRect">
            <a:avLst>
              <a:gd name="adj" fmla="val 14000"/>
            </a:avLst>
          </a:prstGeom>
          <a:solidFill>
            <a:srgbClr val="11A6A0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+mn-lt"/>
              </a:rPr>
              <a:t>cuBLAS bmm · L³</a:t>
            </a:r>
          </a:p>
        </p:txBody>
      </p:sp>
      <p:sp>
        <p:nvSpPr>
          <p:cNvPr id="15" name="b15"/>
          <p:cNvSpPr/>
          <p:nvPr/>
        </p:nvSpPr>
        <p:spPr>
          <a:xfrm>
            <a:off x="7152463" y="3750000"/>
            <a:ext cx="4353735" cy="820000"/>
          </a:xfrm>
          <a:prstGeom prst="roundRect">
            <a:avLst>
              <a:gd name="adj" fmla="val 14000"/>
            </a:avLst>
          </a:prstGeom>
          <a:solidFill>
            <a:srgbClr val="E8412B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+mn-lt"/>
              </a:rPr>
              <a:t>KERNEL 2 · output proj (tm2)</a:t>
            </a:r>
          </a:p>
        </p:txBody>
      </p:sp>
      <p:sp>
        <p:nvSpPr>
          <p:cNvPr id="16" name="cap"/>
          <p:cNvSpPr>
            <a:spLocks noGrp="1"/>
          </p:cNvSpPr>
          <p:nvPr/>
        </p:nvSpPr>
        <p:spPr>
          <a:xfrm>
            <a:off x="685800" y="4850000"/>
            <a:ext cx="10820400" cy="1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300" dirty="0">
                <a:solidFill>
                  <a:srgbClr val="FFFFFF"/>
                </a:solidFill>
                <a:latin typeface="+mn-lt"/>
              </a:rPr>
              <a:t>Fusion: left+right become ONE gated GEMM; the bdll direct write removes the transpose (TMA); LN_in is folded into the GEMM.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200" dirty="0">
                <a:solidFill>
                  <a:srgbClr val="9AA6BE"/>
                </a:solidFill>
                <a:latin typeface="+mn-lt"/>
              </a:rPr>
              <a:t>퓨전: 좌+우를 하나의 gated GEMM으로; bdll 직접 기록으로 transpose 제거(TMA); LN_in을 GEMM에 folding.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600000"/>
            <a:ext cx="10820400" cy="11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01 · TRIANGLE MULTIPLICATION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Two fused kernels around one bmm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bmm을 사이에 둔 두 개의 융합 커널</a:t>
            </a:r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0000"/>
            <a:ext cx="5750000" cy="2712106"/>
          </a:xfrm>
          <a:prstGeom prst="rect">
            <a:avLst/>
          </a:prstGeom>
        </p:spPr>
      </p:pic>
      <p:sp>
        <p:nvSpPr>
          <p:cNvPr id="4" name="b"/>
          <p:cNvSpPr>
            <a:spLocks noGrp="1"/>
          </p:cNvSpPr>
          <p:nvPr/>
        </p:nvSpPr>
        <p:spPr>
          <a:xfrm>
            <a:off x="6835800" y="1750000"/>
            <a:ext cx="4670400" cy="4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2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K1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Input projection (tm1): LN_in + left/right in one gated GEMM, writing bdll directly (no transpose).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입력 사영(tm1): LN_in + 좌/우를 하나의 gated GEMM으로, bdll 직접 기록 (transpose 제거).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K2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Output projection (tm2): LN_out + out-proj ⊙ gate, fused in the epilogue.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출력 사영(tm2): LN_out + out-proj ⊙ gate를 epilogue에서 융합.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→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Best at every L; 1.87 ms @ L=1024 vs cuEquiv 2.57.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모든 L에서 최고; L=1024서 1.87 ms vs cuEquiv 2.57.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520000"/>
            <a:ext cx="1082040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01 · TRANSITION (SwiGLU MLP)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Architecture — fusion removes HBM round-trips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아키텍처 — 융합으로 HBM 왕복 제거</a:t>
            </a:r>
          </a:p>
        </p:txBody>
      </p:sp>
      <p:sp>
        <p:nvSpPr>
          <p:cNvPr id="3" name="bl"/>
          <p:cNvSpPr>
            <a:spLocks noGrp="1"/>
          </p:cNvSpPr>
          <p:nvPr/>
        </p:nvSpPr>
        <p:spPr>
          <a:xfrm>
            <a:off x="685800" y="2120000"/>
            <a:ext cx="10820400" cy="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en-US" sz="1050" b="1" dirty="0">
                <a:solidFill>
                  <a:srgbClr val="9AA6BE"/>
                </a:solidFill>
                <a:latin typeface="+mn-lt"/>
              </a:rPr>
              <a:t>BASELINE — separate launches · 분리된 다중 launch</a:t>
            </a:r>
          </a:p>
        </p:txBody>
      </p:sp>
      <p:sp>
        <p:nvSpPr>
          <p:cNvPr id="4" name="b4"/>
          <p:cNvSpPr/>
          <p:nvPr/>
        </p:nvSpPr>
        <p:spPr>
          <a:xfrm>
            <a:off x="685800" y="2420000"/>
            <a:ext cx="2622600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LayerNorm</a:t>
            </a:r>
          </a:p>
        </p:txBody>
      </p:sp>
      <p:sp>
        <p:nvSpPr>
          <p:cNvPr id="5" name="b5"/>
          <p:cNvSpPr/>
          <p:nvPr/>
        </p:nvSpPr>
        <p:spPr>
          <a:xfrm>
            <a:off x="3418400" y="2420000"/>
            <a:ext cx="2622600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expand ↑4×</a:t>
            </a:r>
          </a:p>
        </p:txBody>
      </p:sp>
      <p:sp>
        <p:nvSpPr>
          <p:cNvPr id="6" name="b6"/>
          <p:cNvSpPr/>
          <p:nvPr/>
        </p:nvSpPr>
        <p:spPr>
          <a:xfrm>
            <a:off x="6151000" y="2420000"/>
            <a:ext cx="2622600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SwiGLU</a:t>
            </a:r>
          </a:p>
        </p:txBody>
      </p:sp>
      <p:sp>
        <p:nvSpPr>
          <p:cNvPr id="7" name="b7"/>
          <p:cNvSpPr/>
          <p:nvPr/>
        </p:nvSpPr>
        <p:spPr>
          <a:xfrm>
            <a:off x="8883600" y="2420000"/>
            <a:ext cx="2622600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squeeze ↓</a:t>
            </a:r>
          </a:p>
        </p:txBody>
      </p:sp>
      <p:sp>
        <p:nvSpPr>
          <p:cNvPr id="8" name="ol"/>
          <p:cNvSpPr>
            <a:spLocks noGrp="1"/>
          </p:cNvSpPr>
          <p:nvPr/>
        </p:nvSpPr>
        <p:spPr>
          <a:xfrm>
            <a:off x="685800" y="3450000"/>
            <a:ext cx="10820400" cy="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en-US" sz="1050" b="1" dirty="0">
                <a:solidFill>
                  <a:srgbClr val="E8412B"/>
                </a:solidFill>
                <a:latin typeface="+mn-lt"/>
              </a:rPr>
              <a:t>OURS — fused · 융합</a:t>
            </a:r>
          </a:p>
        </p:txBody>
      </p:sp>
      <p:sp>
        <p:nvSpPr>
          <p:cNvPr id="9" name="b9"/>
          <p:cNvSpPr/>
          <p:nvPr/>
        </p:nvSpPr>
        <p:spPr>
          <a:xfrm>
            <a:off x="685800" y="3750000"/>
            <a:ext cx="10820400" cy="820000"/>
          </a:xfrm>
          <a:prstGeom prst="roundRect">
            <a:avLst>
              <a:gd name="adj" fmla="val 14000"/>
            </a:avLst>
          </a:prstGeom>
          <a:solidFill>
            <a:srgbClr val="E8412B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+mn-lt"/>
              </a:rPr>
              <a:t>LN → expand ↑4× → SwiGLU → squeeze    (h stays in SMEM / registers)</a:t>
            </a:r>
          </a:p>
        </p:txBody>
      </p:sp>
      <p:sp>
        <p:nvSpPr>
          <p:cNvPr id="10" name="cap"/>
          <p:cNvSpPr>
            <a:spLocks noGrp="1"/>
          </p:cNvSpPr>
          <p:nvPr/>
        </p:nvSpPr>
        <p:spPr>
          <a:xfrm>
            <a:off x="685800" y="4850000"/>
            <a:ext cx="10820400" cy="1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300" dirty="0">
                <a:solidFill>
                  <a:srgbClr val="FFFFFF"/>
                </a:solidFill>
                <a:latin typeface="+mn-lt"/>
              </a:rPr>
              <a:t>Fusion: back-to-back fuse the whole MLP into ONE launch — the 4×-wide hidden h stays in SMEM, zero HBM round-trips (baseline does 3).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200" dirty="0">
                <a:solidFill>
                  <a:srgbClr val="9AA6BE"/>
                </a:solidFill>
                <a:latin typeface="+mn-lt"/>
              </a:rPr>
              <a:t>퓨전: MLP 전체를 한 번의 launch로 b2b 융합 — 4× 넓은 hidden h가 SMEM에 상주, HBM 왕복 0회(baseline은 3회).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600000"/>
            <a:ext cx="10820400" cy="11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01 · TRANSITION (SwiGLU MLP)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One fused kernel — h never touches HBM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한 개의 융합 커널 — h가 HBM에 가지 않음</a:t>
            </a:r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0000"/>
            <a:ext cx="5750000" cy="2894315"/>
          </a:xfrm>
          <a:prstGeom prst="rect">
            <a:avLst/>
          </a:prstGeom>
        </p:spPr>
      </p:pic>
      <p:sp>
        <p:nvSpPr>
          <p:cNvPr id="4" name="b"/>
          <p:cNvSpPr>
            <a:spLocks noGrp="1"/>
          </p:cNvSpPr>
          <p:nvPr/>
        </p:nvSpPr>
        <p:spPr>
          <a:xfrm>
            <a:off x="6835800" y="1750000"/>
            <a:ext cx="4670400" cy="4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2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1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Naive path writes the 4×-wide hidden h to HBM between every stage (3 round-trips).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naive 경로는 4× 넓은 hidden h를 단계마다 HBM에 기록 (3회 왕복).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2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Ours fuses LN → expand → SwiGLU → squeeze into one launch; h stays in SMEM.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ours는 LN → expand → SwiGLU → squeeze를 한 번의 launch로; h는 SMEM 상주.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→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~5.5× vs PyTorch; 1.24 ms vs 6.67 ms @ 1024.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PyTorch 대비 ~5.5×; 1024서 1.24 ms vs 6.67 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520000"/>
            <a:ext cx="1082040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01 · LAYERNORM + LINEAR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Architecture — LN folded into the GEMM epilogue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아키텍처 — LN을 GEMM epilogue에 folding</a:t>
            </a:r>
          </a:p>
        </p:txBody>
      </p:sp>
      <p:sp>
        <p:nvSpPr>
          <p:cNvPr id="3" name="bl"/>
          <p:cNvSpPr>
            <a:spLocks noGrp="1"/>
          </p:cNvSpPr>
          <p:nvPr/>
        </p:nvSpPr>
        <p:spPr>
          <a:xfrm>
            <a:off x="685800" y="2120000"/>
            <a:ext cx="10820400" cy="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en-US" sz="1050" b="1" dirty="0">
                <a:solidFill>
                  <a:srgbClr val="9AA6BE"/>
                </a:solidFill>
                <a:latin typeface="+mn-lt"/>
              </a:rPr>
              <a:t>BASELINE — separate launches · 분리된 다중 launch</a:t>
            </a:r>
          </a:p>
        </p:txBody>
      </p:sp>
      <p:sp>
        <p:nvSpPr>
          <p:cNvPr id="4" name="b4"/>
          <p:cNvSpPr/>
          <p:nvPr/>
        </p:nvSpPr>
        <p:spPr>
          <a:xfrm>
            <a:off x="685800" y="2420000"/>
            <a:ext cx="3905410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LayerNorm (mean·rstd·normalize)</a:t>
            </a:r>
          </a:p>
        </p:txBody>
      </p:sp>
      <p:sp>
        <p:nvSpPr>
          <p:cNvPr id="5" name="b5"/>
          <p:cNvSpPr/>
          <p:nvPr/>
        </p:nvSpPr>
        <p:spPr>
          <a:xfrm>
            <a:off x="4701210" y="2420000"/>
            <a:ext cx="2789578" cy="700000"/>
          </a:xfrm>
          <a:prstGeom prst="roundRect">
            <a:avLst>
              <a:gd name="adj" fmla="val 14000"/>
            </a:avLst>
          </a:prstGeom>
          <a:solidFill>
            <a:srgbClr val="E8A23D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X̂ ↔ HBM</a:t>
            </a:r>
          </a:p>
        </p:txBody>
      </p:sp>
      <p:sp>
        <p:nvSpPr>
          <p:cNvPr id="6" name="b6"/>
          <p:cNvSpPr/>
          <p:nvPr/>
        </p:nvSpPr>
        <p:spPr>
          <a:xfrm>
            <a:off x="7600788" y="2420000"/>
            <a:ext cx="3905410" cy="700000"/>
          </a:xfrm>
          <a:prstGeom prst="roundRect">
            <a:avLst>
              <a:gd name="adj" fmla="val 14000"/>
            </a:avLst>
          </a:prstGeom>
          <a:solidFill>
            <a:srgbClr val="9AA3B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+mn-lt"/>
              </a:rPr>
              <a:t>Linear / GEMM  X̂·W</a:t>
            </a:r>
          </a:p>
        </p:txBody>
      </p:sp>
      <p:sp>
        <p:nvSpPr>
          <p:cNvPr id="7" name="ol"/>
          <p:cNvSpPr>
            <a:spLocks noGrp="1"/>
          </p:cNvSpPr>
          <p:nvPr/>
        </p:nvSpPr>
        <p:spPr>
          <a:xfrm>
            <a:off x="685800" y="3450000"/>
            <a:ext cx="10820400" cy="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0"/>
              </a:spcAft>
            </a:pPr>
            <a:r>
              <a:rPr lang="en-US" sz="1050" b="1" dirty="0">
                <a:solidFill>
                  <a:srgbClr val="E8412B"/>
                </a:solidFill>
                <a:latin typeface="+mn-lt"/>
              </a:rPr>
              <a:t>OURS — fused · 융합</a:t>
            </a:r>
          </a:p>
        </p:txBody>
      </p:sp>
      <p:sp>
        <p:nvSpPr>
          <p:cNvPr id="8" name="b8"/>
          <p:cNvSpPr/>
          <p:nvPr/>
        </p:nvSpPr>
        <p:spPr>
          <a:xfrm>
            <a:off x="685800" y="3750000"/>
            <a:ext cx="10820400" cy="820000"/>
          </a:xfrm>
          <a:prstGeom prst="roundRect">
            <a:avLst>
              <a:gd name="adj" fmla="val 14000"/>
            </a:avLst>
          </a:prstGeom>
          <a:solidFill>
            <a:srgbClr val="E8412B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+mn-lt"/>
              </a:rPr>
              <a:t>GEMM tile loop:  mean/rstd → normalize+affine (epilogue) → X̂·W    (X̂ stays in registers)</a:t>
            </a:r>
          </a:p>
        </p:txBody>
      </p:sp>
      <p:sp>
        <p:nvSpPr>
          <p:cNvPr id="9" name="cap"/>
          <p:cNvSpPr>
            <a:spLocks noGrp="1"/>
          </p:cNvSpPr>
          <p:nvPr/>
        </p:nvSpPr>
        <p:spPr>
          <a:xfrm>
            <a:off x="685800" y="4850000"/>
            <a:ext cx="10820400" cy="1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300" dirty="0">
                <a:solidFill>
                  <a:srgbClr val="FFFFFF"/>
                </a:solidFill>
                <a:latin typeface="+mn-lt"/>
              </a:rPr>
              <a:t>Fusion: compute LN stats inside the GEMM tile loop and fold normalize+affine into the epilogue — X̂ never reaches HBM.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200" dirty="0">
                <a:solidFill>
                  <a:srgbClr val="9AA6BE"/>
                </a:solidFill>
                <a:latin typeface="+mn-lt"/>
              </a:rPr>
              <a:t>퓨전: GEMM 타일 루프 안에서 LN 통계를 계산하고 normalize+affine을 epilogue에 folding — X̂가 HBM에 도달하지 않음.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600000"/>
            <a:ext cx="10820400" cy="11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01 · LAYERNORM + LINEAR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LN folded into the GEMM epilogue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LN을 GEMM epilogue에 folding — TransformerEngine 능가</a:t>
            </a:r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0000"/>
            <a:ext cx="5750000" cy="3029406"/>
          </a:xfrm>
          <a:prstGeom prst="rect">
            <a:avLst/>
          </a:prstGeom>
        </p:spPr>
      </p:pic>
      <p:sp>
        <p:nvSpPr>
          <p:cNvPr id="4" name="b"/>
          <p:cNvSpPr>
            <a:spLocks noGrp="1"/>
          </p:cNvSpPr>
          <p:nvPr/>
        </p:nvSpPr>
        <p:spPr>
          <a:xfrm>
            <a:off x="6835800" y="1750000"/>
            <a:ext cx="4670400" cy="4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2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1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Baseline writes normalized X̂ to HBM; a GEMM reads it back.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baseline은 정규화된 X̂를 HBM에 기록 → GEMM이 다시 읽음.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2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Ours computes LN stats in-kernel, folds normalize+affine into the epilogue — X̂ never reaches HBM.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ours는 LN 통계를 커널 내에서 계산해 epilogue에 folding — X̂가 HBM에 안 감.</a:t>
            </a:r>
          </a:p>
          <a:p>
            <a:pPr algn="l" marL="0" indent="0">
              <a:buNone/>
              <a:spcAft>
                <a:spcPts val="2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→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TE drops below the compiled-PyTorch baseline at large d; ours leads everywhere.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큰 d에서 TE는 기준선 아래; ours는 전 구간 선두.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700000"/>
            <a:ext cx="10820400" cy="58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02 · AF3-LIKE MODEL INFERENCE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The wall — and why existing fixes fall short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Single-GPU wall at ~1–3k residues (pair rep is O(N²); ≈100× more kernel launches than an LLM). · 단일 GPU 벽 ~1–3k residue.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+mn-lt"/>
              </a:rPr>
              <a:t>Fold-CP</a:t>
            </a:r>
            <a:r>
              <a:rPr lang="en-US" sz="1400" dirty="0">
                <a:solidFill>
                  <a:srgbClr val="9AA6BE"/>
                </a:solidFill>
                <a:latin typeface="+mn-lt"/>
              </a:rPr>
              <a:t> — needs a multi-GPU cluster (dozens–256 GPUs); no help for single-GPU users · 클러스터 필요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+mn-lt"/>
              </a:rPr>
              <a:t>FastFold / AutoChunk</a:t>
            </a:r>
            <a:r>
              <a:rPr lang="en-US" sz="1400" dirty="0">
                <a:solidFill>
                  <a:srgbClr val="9AA6BE"/>
                </a:solidFill>
                <a:latin typeface="+mn-lt"/>
              </a:rPr>
              <a:t> — chunking is generic / op-agnostic (recompute overhead); mostly AlphaFold2 · 범용·op무관, AF2 중심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+mn-lt"/>
              </a:rPr>
              <a:t>LightNobel</a:t>
            </a:r>
            <a:r>
              <a:rPr lang="en-US" sz="1400" dirty="0">
                <a:solidFill>
                  <a:srgbClr val="9AA6BE"/>
                </a:solidFill>
                <a:latin typeface="+mn-lt"/>
              </a:rPr>
              <a:t> — a precision tradeoff from quantization · 양자화 정밀도 손실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+mn-lt"/>
              </a:rPr>
              <a:t>MegaFold / ScaleFold</a:t>
            </a:r>
            <a:r>
              <a:rPr lang="en-US" sz="1400" dirty="0">
                <a:solidFill>
                  <a:srgbClr val="9AA6BE"/>
                </a:solidFill>
                <a:latin typeface="+mn-lt"/>
              </a:rPr>
              <a:t> — training systems, limited inference benefit · 학습 시스템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700000"/>
            <a:ext cx="10820400" cy="58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02 · THE GAP · 빈 자리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Why go further — co-design, not generic patches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500" dirty="0">
                <a:solidFill>
                  <a:srgbClr val="9AA6BE"/>
                </a:solidFill>
                <a:latin typeface="+mn-lt"/>
              </a:rPr>
              <a:t>Each existing line solves one axis generically. None co-designs </a:t>
            </a:r>
            <a:r>
              <a:rPr lang="en-US" sz="1500" b="1" dirty="0">
                <a:solidFill>
                  <a:srgbClr val="E8412B"/>
                </a:solidFill>
                <a:latin typeface="+mn-lt"/>
              </a:rPr>
              <a:t>fused kernels + op-aware chunking for AF3 inference on a single GPU</a:t>
            </a:r>
            <a:r>
              <a:rPr lang="en-US" sz="1500" dirty="0">
                <a:solidFill>
                  <a:srgbClr val="9AA6BE"/>
                </a:solidFill>
                <a:latin typeface="+mn-lt"/>
              </a:rPr>
              <a:t> — where the gains compound.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300" dirty="0">
                <a:solidFill>
                  <a:srgbClr val="9AA6BE"/>
                </a:solidFill>
                <a:latin typeface="+mn-lt"/>
              </a:rPr>
              <a:t>기존 방법들은 각자 한 축을 범용적으로만 풉니다. 융합 커널 + op별 chunking을 AF3 단일 GPU 인퍼런스에 공동설계한 사례는 없습니다.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1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Op-aware chunking / streaming of the O(N²) pair representation.  ·  O(N²) pair 표현의 op-인지 chunking.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2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CPU offload for cold tensors, overlapped with compute.  ·  cold 텐서 CPU offload, 연산과 오버랩.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E8412B"/>
                </a:solidFill>
                <a:latin typeface="+mn-lt"/>
              </a:rPr>
              <a:t>3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Inference-only fused paths — fewer intermediates → less memory AND less recompute than chunking alone.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    인퍼런스 전용 융합 경로 — chunking만 할 때보다 메모리·recompute 둘 다 절감. cuEquivariance는 속도 한계가 아님.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600000"/>
            <a:ext cx="10820400" cy="59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TRACK 03 · EDUCATION &amp; RAMP-UP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From AI-assisted to expert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+mn-lt"/>
              </a:rPr>
              <a:t>Where we stand:  </a:t>
            </a:r>
            <a:r>
              <a:rPr lang="en-US" sz="1450" dirty="0">
                <a:solidFill>
                  <a:srgbClr val="9AA6BE"/>
                </a:solidFill>
                <a:latin typeface="+mn-lt"/>
              </a:rPr>
              <a:t>Triton — write &amp; autotune directly; CuTeDSL — used it, but AI-driven; we validate vs fp64 and read roofline.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현재 수준: Triton 직접 작성·오토튠 / CuTeDSL은 AI 주도 / fp64 검증·roofline 해석 가능.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+mn-lt"/>
              </a:rPr>
              <a:t>Where AI plateaus:  </a:t>
            </a:r>
            <a:r>
              <a:rPr lang="en-US" sz="1450" dirty="0">
                <a:solidFill>
                  <a:srgbClr val="9AA6BE"/>
                </a:solidFill>
                <a:latin typeface="+mn-lt"/>
              </a:rPr>
              <a:t>cute ≈ Triton-level or simple quack variants; not yet fluent in warp specialization, TMA/WGMMA pipelining, epilogue fusion, occupancy budgeting.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AI의 한계: cute가 Triton 수준 / warp specialization·TMA·WGMMA·epilogue 융합·occupancy는 미숙.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+mn-lt"/>
              </a:rPr>
              <a:t>What would help:  </a:t>
            </a:r>
            <a:r>
              <a:rPr lang="en-US" sz="1450" dirty="0">
                <a:solidFill>
                  <a:srgbClr val="9AA6BE"/>
                </a:solidFill>
                <a:latin typeface="+mn-lt"/>
              </a:rPr>
              <a:t>internal CuTeDSL / SM90 material + canonical patterns; light pairing / office hours; profile → next-lever guidance.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250" dirty="0">
                <a:solidFill>
                  <a:srgbClr val="9AA6BE"/>
                </a:solidFill>
                <a:latin typeface="+mn-lt"/>
              </a:rPr>
              <a:t>요청: 내부 CuTeDSL/SM90 자료 + canonical 패턴, 가벼운 페어링, 프로파일 해석 가이드.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450" b="1" dirty="0">
                <a:solidFill>
                  <a:srgbClr val="E8412B"/>
                </a:solidFill>
                <a:latin typeface="+mn-lt"/>
              </a:rPr>
              <a:t>Learn from the diff — we build v1, NVIDIA re-optimizes to v2, we study what changed and why.  ·  diff로 배우기.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900000"/>
            <a:ext cx="10820400" cy="52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OUTCOME · 결과물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From today to 7/2</a:t>
            </a:r>
          </a:p>
          <a:p>
            <a:pPr algn="l" marL="0" indent="0">
              <a:buNone/>
              <a:spcAft>
                <a:spcPts val="400"/>
              </a:spcAft>
            </a:pPr>
            <a:r>
              <a:rPr lang="en-US" sz="1600" b="1" dirty="0">
                <a:solidFill>
                  <a:srgbClr val="E8412B"/>
                </a:solidFill>
                <a:latin typeface="+mn-lt"/>
              </a:rPr>
              <a:t>Today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Agree the three tracks — scope, and which kernel / op leads each.  ·  세 트랙 합의.</a:t>
            </a:r>
          </a:p>
          <a:p>
            <a:pPr algn="l" marL="0" indent="0">
              <a:buNone/>
              <a:spcAft>
                <a:spcPts val="400"/>
              </a:spcAft>
            </a:pPr>
            <a:r>
              <a:rPr lang="en-US" sz="1600" b="1" dirty="0">
                <a:solidFill>
                  <a:srgbClr val="E8412B"/>
                </a:solidFill>
                <a:latin typeface="+mn-lt"/>
              </a:rPr>
              <a:t>Before 7/2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Prepare evidence &amp; questions — TriMul backward; a CuTeDSL question list.  ·  근거·질문 준비.</a:t>
            </a:r>
          </a:p>
          <a:p>
            <a:pPr algn="l" marL="0" indent="0">
              <a:buNone/>
              <a:spcAft>
                <a:spcPts val="400"/>
              </a:spcAft>
            </a:pPr>
            <a:r>
              <a:rPr lang="en-US" sz="1600" b="1" dirty="0">
                <a:solidFill>
                  <a:srgbClr val="E8412B"/>
                </a:solidFill>
                <a:latin typeface="+mn-lt"/>
              </a:rPr>
              <a:t>7/2 offline  </a:t>
            </a:r>
            <a:r>
              <a:rPr lang="en-US" sz="1500" dirty="0">
                <a:solidFill>
                  <a:srgbClr val="FFFFFF"/>
                </a:solidFill>
                <a:latin typeface="+mn-lt"/>
              </a:rPr>
              <a:t>Work the diffs together — pick one kernel, do v1→v2 live.  ·  함께 diff 작업.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"/>
          <p:cNvSpPr>
            <a:spLocks noGrp="1"/>
          </p:cNvSpPr>
          <p:nvPr/>
        </p:nvSpPr>
        <p:spPr>
          <a:xfrm>
            <a:off x="685800" y="900000"/>
            <a:ext cx="10820400" cy="52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 marL="0" indent="0">
              <a:buNone/>
              <a:spcAft>
                <a:spcPts val="300"/>
              </a:spcAft>
            </a:pPr>
            <a:r>
              <a:rPr lang="en-US" sz="1100" b="1" dirty="0">
                <a:solidFill>
                  <a:srgbClr val="E8412B"/>
                </a:solidFill>
                <a:latin typeface="+mn-lt"/>
              </a:rPr>
              <a:t>METHODOLOGY &amp; SOURCES · 방법론·출처</a:t>
            </a:r>
          </a:p>
          <a:p>
            <a:pPr algn="l" marL="0" indent="0">
              <a:buNone/>
              <a:spcAft>
                <a:spcPts val="30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</a:rPr>
              <a:t>Honest caveats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400" dirty="0">
                <a:solidFill>
                  <a:srgbClr val="9AA6BE"/>
                </a:solidFill>
                <a:latin typeface="+mn-lt"/>
              </a:rPr>
              <a:t>· All baselines are torch.compile'd PyTorch (never eager).  ·  모든 기준선은 torch.compile PyTorch.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400" dirty="0">
                <a:solidFill>
                  <a:srgbClr val="9AA6BE"/>
                </a:solidFill>
                <a:latin typeface="+mn-lt"/>
              </a:rPr>
              <a:t>· H100 80GB, bf16, B=1. TriMul forward-only; each kernel at its best regime. cuEquiv / dt-v1 reproduce team-gm's harness.</a:t>
            </a:r>
          </a:p>
          <a:p>
            <a:pPr algn="l" marL="0" indent="0">
              <a:buNone/>
              <a:spcAft>
                <a:spcPts val="500"/>
              </a:spcAft>
            </a:pPr>
            <a:r>
              <a:rPr lang="en-US" sz="1400" dirty="0">
                <a:solidFill>
                  <a:srgbClr val="9AA6BE"/>
                </a:solidFill>
                <a:latin typeface="+mn-lt"/>
              </a:rPr>
              <a:t>· TriMul backward in development (within ~10% of dt-v1 at large L).  ·  TriMul backward 개발 중.</a:t>
            </a:r>
          </a:p>
          <a:p>
            <a:pPr algn="l" marL="0" indent="0">
              <a:buNone/>
              <a:spcAft>
                <a:spcPts val="600"/>
              </a:spcAft>
            </a:pPr>
            <a:r>
              <a:rPr lang="en-US" sz="1150" dirty="0">
                <a:solidFill>
                  <a:srgbClr val="9AA6BE"/>
                </a:solidFill>
                <a:latin typeface="+mn-lt"/>
              </a:rPr>
              <a:t>Sources: Fold-CP arXiv:2603.14806 · MegaFold 2506.20686 · FastFold/AutoChunk PPoPP'24 / 2401.10652 · LightNobel 2505.05893 · AF3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w">
  <a:themeElements>
    <a:clrScheme name="mw">
      <a:dk1>
        <a:srgbClr val="0E1320"/>
      </a:dk1>
      <a:lt1>
        <a:srgbClr val="FFFFFF"/>
      </a:lt1>
      <a:dk2>
        <a:srgbClr val="161D2E"/>
      </a:dk2>
      <a:lt2>
        <a:srgbClr val="E7ECF5"/>
      </a:lt2>
      <a:accent1>
        <a:srgbClr val="E8412B"/>
      </a:accent1>
      <a:accent2>
        <a:srgbClr val="76B900"/>
      </a:accent2>
      <a:accent3>
        <a:srgbClr val="11A6A0"/>
      </a:accent3>
      <a:accent4>
        <a:srgbClr val="F29A38"/>
      </a:accent4>
      <a:accent5>
        <a:srgbClr val="9AA3B2"/>
      </a:accent5>
      <a:accent6>
        <a:srgbClr val="E8A23D"/>
      </a:accent6>
      <a:hlink>
        <a:srgbClr val="E8412B"/>
      </a:hlink>
      <a:folHlink>
        <a:srgbClr val="F29A38"/>
      </a:folHlink>
    </a:clrScheme>
    <a:fontScheme name="mw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